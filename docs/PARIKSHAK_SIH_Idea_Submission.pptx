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600"/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E58E26"/>
                </a:solidFill>
                <a:latin typeface="Calibri"/>
                <a:cs typeface="Calibri"/>
              </a:rPr>
              <a:t>SMART INDIA HACKATHON 2026  ·  IDEA SUBMISSION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960120"/>
            <a:ext cx="10881360" cy="1051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Arial"/>
                <a:cs typeface="Arial"/>
              </a:rPr>
              <a:t>PARIKSHAK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40080" y="201168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0" dirty="0">
                <a:solidFill>
                  <a:srgbClr val="CADCFC"/>
                </a:solidFill>
                <a:latin typeface="Calibri"/>
                <a:cs typeface="Calibri"/>
              </a:rPr>
              <a:t>An on-board witness that checks every step of an experiment procedure in orbit — and says so when it cannot see.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40080" y="3611880"/>
          <a:ext cx="10908792" cy="2752344"/>
        </p:xfrm>
        <a:graphic>
          <a:graphicData uri="http://schemas.openxmlformats.org/drawingml/2006/table">
            <a:tbl>
              <a:tblPr firstRow="1" bandRow="1"/>
              <a:tblGrid>
                <a:gridCol w="2834640"/>
                <a:gridCol w="8074152"/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/>
                          <a:cs typeface="Calibri"/>
                        </a:rPr>
                        <a:t>Problem Statement ID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26174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/>
                          <a:cs typeface="Calibri"/>
                        </a:rPr>
                        <a:t>Problem Statement Title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AI-based Human Activity Recognition for validating scientific experiment sequences on-board (BAS / lunar missions)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/>
                          <a:cs typeface="Calibri"/>
                        </a:rPr>
                        <a:t>Organisation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Indian Space Research Organisation (ISRO), Department of Space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/>
                          <a:cs typeface="Calibri"/>
                        </a:rPr>
                        <a:t>Theme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Space Technology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/>
                          <a:cs typeface="Calibri"/>
                        </a:rPr>
                        <a:t>PS Category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/>
                          <a:cs typeface="Calibri"/>
                        </a:rPr>
                        <a:t>Team ID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[fill in your team ID]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/>
                          <a:cs typeface="Calibri"/>
                        </a:rPr>
                        <a:t>Team Name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[fill in your team name]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2A4570"/>
                      </a:solidFill>
                    </a:lnL>
                    <a:lnR w="6350">
                      <a:solidFill>
                        <a:srgbClr val="2A4570"/>
                      </a:solidFill>
                    </a:lnR>
                    <a:lnT w="6350">
                      <a:solidFill>
                        <a:srgbClr val="2A4570"/>
                      </a:solidFill>
                    </a:lnT>
                    <a:lnB w="6350">
                      <a:solidFill>
                        <a:srgbClr val="2A4570"/>
                      </a:solidFill>
                    </a:lnB>
                    <a:solidFill>
                      <a:srgbClr val="1329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B1D33"/>
                </a:solidFill>
                <a:latin typeface="Arial"/>
                <a:cs typeface="Arial"/>
              </a:rPr>
              <a:t>Proposed solution</a:t>
            </a:r>
          </a:p>
        </p:txBody>
      </p:sp>
      <p:sp>
        <p:nvSpPr>
          <p:cNvPr id="4" name="Kicker 4"/>
          <p:cNvSpPr txBox="1"/>
          <p:nvPr/>
        </p:nvSpPr>
        <p:spPr>
          <a:xfrm>
            <a:off x="8595360" y="38404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75828E"/>
                </a:solidFill>
                <a:latin typeface="Calibri"/>
                <a:cs typeface="Calibri"/>
              </a:rPr>
              <a:t>SIH 2026 · PS 26174 · Space Technology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PARIKSHAK · on-board procedure witness</a:t>
            </a:r>
          </a:p>
        </p:txBody>
      </p:sp>
      <p:sp>
        <p:nvSpPr>
          <p:cNvPr id="6" name="Page 6"/>
          <p:cNvSpPr txBox="1"/>
          <p:nvPr/>
        </p:nvSpPr>
        <p:spPr>
          <a:xfrm>
            <a:off x="10241280" y="6419088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2 / 6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188720"/>
            <a:ext cx="5669280" cy="1143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0" dirty="0">
                <a:solidFill>
                  <a:srgbClr val="15202B"/>
                </a:solidFill>
                <a:latin typeface="Calibri"/>
                <a:cs typeface="Calibri"/>
              </a:rPr>
              <a:t>PARIKSHAK watches the experiment rack through a camera, checks every step against the procedure file, speaks the next step, and alerts only on strong evidence — naming the step and the reason.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48640" y="2395728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B1D33"/>
                </a:solidFill>
                <a:latin typeface="Arial"/>
                <a:cs typeface="Arial"/>
              </a:rPr>
              <a:t>How it addresses the problem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48640" y="2761488"/>
            <a:ext cx="5669280" cy="2194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6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400" b="0" dirty="0">
                <a:solidFill>
                  <a:srgbClr val="15202B"/>
                </a:solidFill>
                <a:latin typeface="Calibri"/>
                <a:cs typeface="Calibri"/>
              </a:rPr>
              <a:t>Verifies each step independently — the crew no longer self-reports on a tablet.</a:t>
            </a:r>
          </a:p>
          <a:p>
            <a:pPr algn="l" marL="228600" indent="-228600">
              <a:lnSpc>
                <a:spcPct val="100000"/>
              </a:lnSpc>
              <a:spcAft>
                <a:spcPts val="6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400" b="0" dirty="0">
                <a:solidFill>
                  <a:srgbClr val="15202B"/>
                </a:solidFill>
                <a:latin typeface="Calibri"/>
                <a:cs typeface="Calibri"/>
              </a:rPr>
              <a:t>Catches skipped steps, the wrong object and safety violations within about 2 s.</a:t>
            </a:r>
          </a:p>
          <a:p>
            <a:pPr algn="l" marL="228600" indent="-228600">
              <a:lnSpc>
                <a:spcPct val="100000"/>
              </a:lnSpc>
              <a:spcAft>
                <a:spcPts val="6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400" b="0" dirty="0">
                <a:solidFill>
                  <a:srgbClr val="15202B"/>
                </a:solidFill>
                <a:latin typeface="Calibri"/>
                <a:cs typeface="Calibri"/>
              </a:rPr>
              <a:t>Says “cannot verify” when blind: an occluded camera never makes an accusation.</a:t>
            </a:r>
          </a:p>
          <a:p>
            <a:pPr algn="l" marL="228600" indent="-228600">
              <a:lnSpc>
                <a:spcPct val="100000"/>
              </a:lnSpc>
              <a:spcAft>
                <a:spcPts val="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400" b="0" dirty="0">
                <a:solidFill>
                  <a:srgbClr val="15202B"/>
                </a:solidFill>
                <a:latin typeface="Calibri"/>
                <a:cs typeface="Calibri"/>
              </a:rPr>
              <a:t>Writes a tamper-evident flight record that is downlinked before any video.</a:t>
            </a:r>
          </a:p>
        </p:txBody>
      </p:sp>
      <p:pic>
        <p:nvPicPr>
          <p:cNvPr id="10" name="Picture 10" descr="Rack face drawn from the engine's belief at the moment it flagged the skipped la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88720"/>
            <a:ext cx="5193792" cy="2921508"/>
          </a:xfrm>
          <a:prstGeom prst="rect">
            <a:avLst/>
          </a:prstGeom>
          <a:ln w="9525">
            <a:solidFill>
              <a:srgbClr val="D3DAE1"/>
            </a:solidFill>
          </a:ln>
        </p:spPr>
      </p:pic>
      <p:sp>
        <p:nvSpPr>
          <p:cNvPr id="11" name="Box 11"/>
          <p:cNvSpPr/>
          <p:nvPr/>
        </p:nvSpPr>
        <p:spPr>
          <a:xfrm>
            <a:off x="6446520" y="4224528"/>
            <a:ext cx="5193792" cy="932688"/>
          </a:xfrm>
          <a:prstGeom prst="roundRect">
            <a:avLst>
              <a:gd name="adj" fmla="val 7000"/>
            </a:avLst>
          </a:prstGeom>
          <a:solidFill>
            <a:srgbClr val="F8E2DF"/>
          </a:solidFill>
          <a:ln w="12700">
            <a:solidFill>
              <a:srgbClr val="C0392B"/>
            </a:solidFill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0392B"/>
                </a:solidFill>
                <a:latin typeface="Calibri"/>
                <a:cs typeface="Calibri"/>
              </a:rPr>
              <a:t>CAUTION · SKIP · S08 · 47.8 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5202B"/>
                </a:solidFill>
                <a:latin typeface="Calibri"/>
                <a:cs typeface="Calibri"/>
              </a:rPr>
              <a:t>“Step eight, close the glovebox latch, was not completed.”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5202B"/>
                </a:solidFill>
                <a:latin typeface="Calibri"/>
                <a:cs typeface="Calibri"/>
              </a:rPr>
              <a:t>Why: </a:t>
            </a:r>
            <a:r>
              <a:rPr lang="en-US" sz="1100" b="0" dirty="0">
                <a:solidFill>
                  <a:srgbClr val="4A5866"/>
                </a:solidFill>
                <a:latin typeface="Calibri"/>
                <a:cs typeface="Calibri"/>
              </a:rPr>
              <a:t>predicate state_is(latch, closed) never satisfied between 43.0s and 46.2s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48640" y="504748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B1D33"/>
                </a:solidFill>
                <a:latin typeface="Arial"/>
                <a:cs typeface="Arial"/>
              </a:rPr>
              <a:t>Innovation and uniqueness</a:t>
            </a:r>
          </a:p>
        </p:txBody>
      </p:sp>
      <p:sp>
        <p:nvSpPr>
          <p:cNvPr id="13" name="Box 13"/>
          <p:cNvSpPr/>
          <p:nvPr/>
        </p:nvSpPr>
        <p:spPr>
          <a:xfrm>
            <a:off x="548640" y="5413248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The experiment is a file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A new procedure is a YAML file. CRX-2 was added with no retraining and no code change.</a:t>
            </a:r>
          </a:p>
        </p:txBody>
      </p:sp>
      <p:sp>
        <p:nvSpPr>
          <p:cNvPr id="14" name="Box 14"/>
          <p:cNvSpPr/>
          <p:nvPr/>
        </p:nvSpPr>
        <p:spPr>
          <a:xfrm>
            <a:off x="3353105" y="5413248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Unknown is not wrong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Three-valued logic: hidden or unmodelled evidence reads “cannot verify”, never “skipped”.</a:t>
            </a:r>
          </a:p>
        </p:txBody>
      </p:sp>
      <p:sp>
        <p:nvSpPr>
          <p:cNvPr id="15" name="Box 15"/>
          <p:cNvSpPr/>
          <p:nvPr/>
        </p:nvSpPr>
        <p:spPr>
          <a:xfrm>
            <a:off x="6157570" y="5413248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Up is the rack, not gravity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Geometry is measured in rack coordinates from markers, so orientation in orbit does not matter.</a:t>
            </a:r>
          </a:p>
        </p:txBody>
      </p:sp>
      <p:sp>
        <p:nvSpPr>
          <p:cNvPr id="16" name="Box 16"/>
          <p:cNvSpPr/>
          <p:nvPr/>
        </p:nvSpPr>
        <p:spPr>
          <a:xfrm>
            <a:off x="8962034" y="5413248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Evidence over time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Each step accumulates evidence with duration priors; an alert needs 0.85 evidence held for 1.5 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B1D33"/>
                </a:solidFill>
                <a:latin typeface="Arial"/>
                <a:cs typeface="Arial"/>
              </a:rPr>
              <a:t>Technical approach</a:t>
            </a:r>
          </a:p>
        </p:txBody>
      </p:sp>
      <p:sp>
        <p:nvSpPr>
          <p:cNvPr id="4" name="Kicker 4"/>
          <p:cNvSpPr txBox="1"/>
          <p:nvPr/>
        </p:nvSpPr>
        <p:spPr>
          <a:xfrm>
            <a:off x="8595360" y="38404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75828E"/>
                </a:solidFill>
                <a:latin typeface="Calibri"/>
                <a:cs typeface="Calibri"/>
              </a:rPr>
              <a:t>SIH 2026 · PS 26174 · Space Technology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PARIKSHAK · on-board procedure witness</a:t>
            </a:r>
          </a:p>
        </p:txBody>
      </p:sp>
      <p:sp>
        <p:nvSpPr>
          <p:cNvPr id="6" name="Page 6"/>
          <p:cNvSpPr txBox="1"/>
          <p:nvPr/>
        </p:nvSpPr>
        <p:spPr>
          <a:xfrm>
            <a:off x="10241280" y="6419088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3 / 6</a:t>
            </a:r>
          </a:p>
        </p:txBody>
      </p:sp>
      <p:sp>
        <p:nvSpPr>
          <p:cNvPr id="7" name="Box 7"/>
          <p:cNvSpPr/>
          <p:nvPr/>
        </p:nvSpPr>
        <p:spPr>
          <a:xfrm>
            <a:off x="548640" y="1188720"/>
            <a:ext cx="1993392" cy="1078992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B1D33"/>
                </a:solidFill>
                <a:latin typeface="Arial"/>
                <a:cs typeface="Arial"/>
              </a:rPr>
              <a:t>Camera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Watches the payload rack, 5–10 frames/s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2578608" y="1728216"/>
            <a:ext cx="201168" cy="0"/>
          </a:xfrm>
          <a:prstGeom prst="straightConnector1">
            <a:avLst/>
          </a:prstGeom>
          <a:ln w="22225">
            <a:solidFill>
              <a:srgbClr val="4A5866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2816352" y="1188720"/>
            <a:ext cx="1993392" cy="1078992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B1D33"/>
                </a:solidFill>
                <a:latin typeface="Arial"/>
                <a:cs typeface="Arial"/>
              </a:rPr>
              <a:t>Perception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Rack pose from AprilTags; objects, states and hands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846320" y="1728216"/>
            <a:ext cx="201168" cy="0"/>
          </a:xfrm>
          <a:prstGeom prst="straightConnector1">
            <a:avLst/>
          </a:prstGeom>
          <a:ln w="22225">
            <a:solidFill>
              <a:srgbClr val="4A5866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5084064" y="1188720"/>
            <a:ext cx="1993392" cy="1078992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B1D33"/>
                </a:solidFill>
                <a:latin typeface="Arial"/>
                <a:cs typeface="Arial"/>
              </a:rPr>
              <a:t>Belief frame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What is seen, with confidence — hidden stays unknown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7114032" y="1728216"/>
            <a:ext cx="201168" cy="0"/>
          </a:xfrm>
          <a:prstGeom prst="straightConnector1">
            <a:avLst/>
          </a:prstGeom>
          <a:ln w="22225">
            <a:solidFill>
              <a:srgbClr val="4A5866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7351776" y="1188720"/>
            <a:ext cx="1993392" cy="1078992"/>
          </a:xfrm>
          <a:prstGeom prst="roundRect">
            <a:avLst>
              <a:gd name="adj" fmla="val 7000"/>
            </a:avLst>
          </a:prstGeom>
          <a:solidFill>
            <a:srgbClr val="E3EAFB"/>
          </a:solidFill>
          <a:ln w="12700">
            <a:solidFill>
              <a:srgbClr val="2D5BD8"/>
            </a:solidFill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B1D33"/>
                </a:solidFill>
                <a:latin typeface="Arial"/>
                <a:cs typeface="Arial"/>
              </a:rPr>
              <a:t>Procedure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Predicates, evidence over time, duration priors, safety rules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9381744" y="1728216"/>
            <a:ext cx="201168" cy="0"/>
          </a:xfrm>
          <a:prstGeom prst="straightConnector1">
            <a:avLst/>
          </a:prstGeom>
          <a:ln w="22225">
            <a:solidFill>
              <a:srgbClr val="4A5866"/>
            </a:solidFill>
            <a:tailEnd type="triangle" w="med" len="med"/>
          </a:ln>
        </p:spPr>
      </p:cxnSp>
      <p:sp>
        <p:nvSpPr>
          <p:cNvPr id="15" name="Box 15"/>
          <p:cNvSpPr/>
          <p:nvPr/>
        </p:nvSpPr>
        <p:spPr>
          <a:xfrm>
            <a:off x="9619488" y="1188720"/>
            <a:ext cx="1993392" cy="1078992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B1D33"/>
                </a:solidFill>
                <a:latin typeface="Arial"/>
                <a:cs typeface="Arial"/>
              </a:rPr>
              <a:t>Crew &amp; ground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Voice prompt, alert with reason, checklist, hash-chained log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548640" y="2606040"/>
          <a:ext cx="7269480" cy="3401568"/>
        </p:xfrm>
        <a:graphic>
          <a:graphicData uri="http://schemas.openxmlformats.org/drawingml/2006/table">
            <a:tbl>
              <a:tblPr firstRow="1" bandRow="1"/>
              <a:tblGrid>
                <a:gridCol w="1325880"/>
                <a:gridCol w="3246120"/>
                <a:gridCol w="2697480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Working prototype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Flight version (planned)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0B1D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Perception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OpenCV 5, AprilTag 36h11 markers, PnP rack pose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RT-DETR objects, MediaPipe / RTMPose hands, TensorRT INT8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Reasoning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Procedure language (YAML + JSON Schema), 3-valued predicates, CUSUM evidence, alert policy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Same engine, unchanged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Guided web app (FastAPI), PySide6 window, pyttsx3 voice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Piper TTS, whisper.cpp / Vosk voice commands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Record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SHA-256 hash-chained log, deterministic trace replay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CFDP downlink package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Compute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Laptop CPU: 13.4 FPS in the slowest 5% of frames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Jetson Orin, within 25 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Box 17"/>
          <p:cNvSpPr/>
          <p:nvPr/>
        </p:nvSpPr>
        <p:spPr>
          <a:xfrm>
            <a:off x="8092440" y="2606040"/>
            <a:ext cx="3547872" cy="3401568"/>
          </a:xfrm>
          <a:prstGeom prst="roundRect">
            <a:avLst>
              <a:gd name="adj" fmla="val 7000"/>
            </a:avLst>
          </a:prstGeom>
          <a:solidFill>
            <a:srgbClr val="0B1D33"/>
          </a:solidFill>
          <a:ln>
            <a:noFill/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Working prototype</a:t>
            </a:r>
          </a:p>
          <a:p>
            <a:pPr algn="l" marL="228600" indent="-228600">
              <a:lnSpc>
                <a:spcPct val="100000"/>
              </a:lnSpc>
              <a:spcAft>
                <a:spcPts val="600"/>
              </a:spcAft>
              <a:buClr>
                <a:srgbClr val="CADCFC"/>
              </a:buClr>
              <a:buFont typeface="Arial"/>
              <a:buChar char="•"/>
            </a:pPr>
            <a:r>
              <a:rPr lang="en-US" sz="1200" b="0" dirty="0">
                <a:solidFill>
                  <a:srgbClr val="CADCFC"/>
                </a:solidFill>
                <a:latin typeface="Calibri"/>
                <a:cs typeface="Calibri"/>
              </a:rPr>
              <a:t>Guided web app: choose an experiment, act each step, the engine judges live.</a:t>
            </a:r>
          </a:p>
          <a:p>
            <a:pPr algn="l" marL="228600" indent="-228600">
              <a:lnSpc>
                <a:spcPct val="100000"/>
              </a:lnSpc>
              <a:spcAft>
                <a:spcPts val="600"/>
              </a:spcAft>
              <a:buClr>
                <a:srgbClr val="CADCFC"/>
              </a:buClr>
              <a:buFont typeface="Arial"/>
              <a:buChar char="•"/>
            </a:pPr>
            <a:r>
              <a:rPr lang="en-US" sz="1200" b="0" dirty="0">
                <a:solidFill>
                  <a:srgbClr val="CADCFC"/>
                </a:solidFill>
                <a:latin typeface="Calibri"/>
                <a:cs typeface="Calibri"/>
              </a:rPr>
              <a:t>14 recorded scenarios replayed through the engine.</a:t>
            </a:r>
          </a:p>
          <a:p>
            <a:pPr algn="l" marL="228600" indent="-228600">
              <a:lnSpc>
                <a:spcPct val="100000"/>
              </a:lnSpc>
              <a:spcAft>
                <a:spcPts val="600"/>
              </a:spcAft>
              <a:buClr>
                <a:srgbClr val="CADCFC"/>
              </a:buClr>
              <a:buFont typeface="Arial"/>
              <a:buChar char="•"/>
            </a:pPr>
            <a:r>
              <a:rPr lang="en-US" sz="1200" b="0" dirty="0">
                <a:solidFill>
                  <a:srgbClr val="CADCFC"/>
                </a:solidFill>
                <a:latin typeface="Calibri"/>
                <a:cs typeface="Calibri"/>
              </a:rPr>
              <a:t>Live webcam mode with printed markers; desktop operator window.</a:t>
            </a:r>
          </a:p>
          <a:p>
            <a:pPr algn="l" marL="228600" indent="-228600">
              <a:lnSpc>
                <a:spcPct val="100000"/>
              </a:lnSpc>
              <a:spcAft>
                <a:spcPts val="600"/>
              </a:spcAft>
              <a:buClr>
                <a:srgbClr val="CADCFC"/>
              </a:buClr>
              <a:buFont typeface="Arial"/>
              <a:buChar char="•"/>
            </a:pPr>
            <a:r>
              <a:rPr lang="en-US" sz="1200" b="0" dirty="0">
                <a:solidFill>
                  <a:srgbClr val="CADCFC"/>
                </a:solidFill>
                <a:latin typeface="Calibri"/>
                <a:cs typeface="Calibri"/>
              </a:rPr>
              <a:t>602 automated tests; every build gate green.</a:t>
            </a:r>
          </a:p>
          <a:p>
            <a:pPr algn="l" marL="228600" indent="-228600">
              <a:lnSpc>
                <a:spcPct val="100000"/>
              </a:lnSpc>
              <a:spcAft>
                <a:spcPts val="1000"/>
              </a:spcAft>
              <a:buClr>
                <a:srgbClr val="CADCFC"/>
              </a:buClr>
              <a:buFont typeface="Arial"/>
              <a:buChar char="•"/>
            </a:pPr>
            <a:r>
              <a:rPr lang="en-US" sz="1200" b="0" dirty="0">
                <a:solidFill>
                  <a:srgbClr val="CADCFC"/>
                </a:solidFill>
                <a:latin typeface="Calibri"/>
                <a:cs typeface="Calibri"/>
              </a:rPr>
              <a:t>Offline by construction: no network path in the on-board code.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E58E26"/>
                </a:solidFill>
                <a:latin typeface="Consolas"/>
                <a:cs typeface="Consolas"/>
              </a:rPr>
              <a:t>python -m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B1D33"/>
                </a:solidFill>
                <a:latin typeface="Arial"/>
                <a:cs typeface="Arial"/>
              </a:rPr>
              <a:t>Feasibility and viability</a:t>
            </a:r>
          </a:p>
        </p:txBody>
      </p:sp>
      <p:sp>
        <p:nvSpPr>
          <p:cNvPr id="4" name="Kicker 4"/>
          <p:cNvSpPr txBox="1"/>
          <p:nvPr/>
        </p:nvSpPr>
        <p:spPr>
          <a:xfrm>
            <a:off x="8595360" y="38404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75828E"/>
                </a:solidFill>
                <a:latin typeface="Calibri"/>
                <a:cs typeface="Calibri"/>
              </a:rPr>
              <a:t>SIH 2026 · PS 26174 · Space Technology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PARIKSHAK · on-board procedure witness</a:t>
            </a:r>
          </a:p>
        </p:txBody>
      </p:sp>
      <p:sp>
        <p:nvSpPr>
          <p:cNvPr id="6" name="Page 6"/>
          <p:cNvSpPr txBox="1"/>
          <p:nvPr/>
        </p:nvSpPr>
        <p:spPr>
          <a:xfrm>
            <a:off x="10241280" y="6419088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4 / 6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1704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B1D33"/>
                </a:solidFill>
                <a:latin typeface="Arial"/>
                <a:cs typeface="Arial"/>
              </a:rPr>
              <a:t>Measured on the working prototype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48640" y="1554480"/>
          <a:ext cx="6492240" cy="2743200"/>
        </p:xfrm>
        <a:graphic>
          <a:graphicData uri="http://schemas.openxmlformats.org/drawingml/2006/table">
            <a:tbl>
              <a:tblPr firstRow="1" bandRow="1"/>
              <a:tblGrid>
                <a:gridCol w="2514600"/>
                <a:gridCol w="8686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CSP-1 · 14 steps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CRX-2 · 8 steps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0B1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Step accuracy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≥ 95%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98.7%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95.6%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Deviations caught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≥ 90%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97.8%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97.5%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False alarms per 45 min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≤ 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0.85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0.00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False alarms, permitted reorders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Alert delay, median / 95th pct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5202B"/>
                          </a:solidFill>
                          <a:latin typeface="Calibri"/>
                          <a:cs typeface="Calibri"/>
                        </a:rPr>
                        <a:t>≤ 2 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1.6 / 1.6 s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1.6 / 1.8 s</a:t>
                      </a:r>
                      <a:r>
                        <a:rPr lang="en-US" sz="1000" b="0" dirty="0">
                          <a:solidFill>
                            <a:srgbClr val="1E8457"/>
                          </a:solidFill>
                          <a:latin typeface="Calibri"/>
                          <a:cs typeface="Calibri"/>
                        </a:rPr>
                        <a:t>  met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3DAE1"/>
                      </a:solidFill>
                    </a:lnL>
                    <a:lnR w="6350">
                      <a:solidFill>
                        <a:srgbClr val="D3DAE1"/>
                      </a:solidFill>
                    </a:lnR>
                    <a:lnT w="6350">
                      <a:solidFill>
                        <a:srgbClr val="D3DAE1"/>
                      </a:solidFill>
                    </a:lnT>
                    <a:lnB w="6350">
                      <a:solidFill>
                        <a:srgbClr val="D3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9"/>
          <p:cNvSpPr txBox="1"/>
          <p:nvPr/>
        </p:nvSpPr>
        <p:spPr>
          <a:xfrm>
            <a:off x="548640" y="4407408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4A5866"/>
                </a:solidFill>
                <a:latin typeface="Calibri"/>
                <a:cs typeface="Calibri"/>
              </a:rPr>
              <a:t>Degraded synthetic runs — noise, dropped frames, occlusion — each scored against the error injected into it: 130 CSP-1 runs, 70 CRX-2 runs. An alarm counts as false if nothing was injected, or if it concerns a step before the injected one.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315200" y="1170432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B1D33"/>
                </a:solidFill>
                <a:latin typeface="Arial"/>
                <a:cs typeface="Arial"/>
              </a:rPr>
              <a:t>Risks and how we handle them</a:t>
            </a:r>
          </a:p>
        </p:txBody>
      </p:sp>
      <p:sp>
        <p:nvSpPr>
          <p:cNvPr id="11" name="Box 11"/>
          <p:cNvSpPr/>
          <p:nvPr/>
        </p:nvSpPr>
        <p:spPr>
          <a:xfrm>
            <a:off x="7315200" y="1572768"/>
            <a:ext cx="4325112" cy="82296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Orbit looks different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Learned parts never use gravity cues; geometry is in the rack frame; fine-tune on MicroG-4M.</a:t>
            </a:r>
          </a:p>
        </p:txBody>
      </p:sp>
      <p:sp>
        <p:nvSpPr>
          <p:cNvPr id="12" name="Box 12"/>
          <p:cNvSpPr/>
          <p:nvPr/>
        </p:nvSpPr>
        <p:spPr>
          <a:xfrm>
            <a:off x="7315200" y="2505456"/>
            <a:ext cx="4325112" cy="82296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False alarms erode trust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Evidence plus persistence; unknown is never wrong; the remaining causes are measured and named.</a:t>
            </a:r>
          </a:p>
        </p:txBody>
      </p:sp>
      <p:sp>
        <p:nvSpPr>
          <p:cNvPr id="13" name="Box 13"/>
          <p:cNvSpPr/>
          <p:nvPr/>
        </p:nvSpPr>
        <p:spPr>
          <a:xfrm>
            <a:off x="7315200" y="3438144"/>
            <a:ext cx="4325112" cy="82296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The crew's body blocks the view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Reads “cannot verify”; duration priors carry state; multi-camera fusion planned.</a:t>
            </a:r>
          </a:p>
        </p:txBody>
      </p:sp>
      <p:sp>
        <p:nvSpPr>
          <p:cNvPr id="14" name="Box 14"/>
          <p:cNvSpPr/>
          <p:nvPr/>
        </p:nvSpPr>
        <p:spPr>
          <a:xfrm>
            <a:off x="7315200" y="4370832"/>
            <a:ext cx="4325112" cy="82296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D5BD8"/>
                </a:solidFill>
                <a:latin typeface="Calibri"/>
                <a:cs typeface="Calibri"/>
              </a:rPr>
              <a:t>Edge compute and power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0" dirty="0">
                <a:solidFill>
                  <a:srgbClr val="4A5866"/>
                </a:solidFill>
                <a:latin typeface="Calibri"/>
                <a:cs typeface="Calibri"/>
              </a:rPr>
              <a:t>Already real-time on a laptop CPU; Jetson Orin with TensorRT INT8 for the 25 W budget.</a:t>
            </a:r>
          </a:p>
        </p:txBody>
      </p:sp>
      <p:sp>
        <p:nvSpPr>
          <p:cNvPr id="15" name="Box 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7000"/>
            </a:avLst>
          </a:prstGeom>
          <a:solidFill>
            <a:srgbClr val="E3EAFB"/>
          </a:solidFill>
          <a:ln>
            <a:noFill/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B1D33"/>
                </a:solidFill>
                <a:latin typeface="Arial"/>
                <a:cs typeface="Arial"/>
              </a:rPr>
              <a:t>Viability  </a:t>
            </a:r>
            <a:r>
              <a:rPr lang="en-US" sz="1250" b="0" dirty="0">
                <a:solidFill>
                  <a:srgbClr val="15202B"/>
                </a:solidFill>
                <a:latin typeface="Calibri"/>
                <a:cs typeface="Calibri"/>
              </a:rPr>
              <a:t>Pure software on standard hardware. It reads the same procedure the crew already follows, is advisory and never commands hardware, and has no network path in the on-board code — a test fails the build if one appears.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B1D33"/>
                </a:solidFill>
                <a:latin typeface="Arial"/>
                <a:cs typeface="Arial"/>
              </a:rPr>
              <a:t>Impact and benefits</a:t>
            </a:r>
          </a:p>
        </p:txBody>
      </p:sp>
      <p:sp>
        <p:nvSpPr>
          <p:cNvPr id="4" name="Kicker 4"/>
          <p:cNvSpPr txBox="1"/>
          <p:nvPr/>
        </p:nvSpPr>
        <p:spPr>
          <a:xfrm>
            <a:off x="8595360" y="38404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75828E"/>
                </a:solidFill>
                <a:latin typeface="Calibri"/>
                <a:cs typeface="Calibri"/>
              </a:rPr>
              <a:t>SIH 2026 · PS 26174 · Space Technology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PARIKSHAK · on-board procedure witness</a:t>
            </a:r>
          </a:p>
        </p:txBody>
      </p:sp>
      <p:sp>
        <p:nvSpPr>
          <p:cNvPr id="6" name="Page 6"/>
          <p:cNvSpPr txBox="1"/>
          <p:nvPr/>
        </p:nvSpPr>
        <p:spPr>
          <a:xfrm>
            <a:off x="10241280" y="6419088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5 / 6</a:t>
            </a:r>
          </a:p>
        </p:txBody>
      </p:sp>
      <p:sp>
        <p:nvSpPr>
          <p:cNvPr id="7" name="Box 7"/>
          <p:cNvSpPr/>
          <p:nvPr/>
        </p:nvSpPr>
        <p:spPr>
          <a:xfrm>
            <a:off x="548640" y="1188720"/>
            <a:ext cx="2624328" cy="1572768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46304" tIns="146304" rIns="146304" bIns="146304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58E26"/>
                </a:solidFill>
                <a:latin typeface="Arial"/>
                <a:cs typeface="Arial"/>
              </a:rPr>
              <a:t>8 KB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4A5866"/>
                </a:solidFill>
                <a:latin typeface="Calibri"/>
                <a:cs typeface="Calibri"/>
              </a:rPr>
              <a:t>flight record for a 141 s run, against about 70 MB of video</a:t>
            </a:r>
          </a:p>
        </p:txBody>
      </p:sp>
      <p:sp>
        <p:nvSpPr>
          <p:cNvPr id="8" name="Box 8"/>
          <p:cNvSpPr/>
          <p:nvPr/>
        </p:nvSpPr>
        <p:spPr>
          <a:xfrm>
            <a:off x="3370478" y="1188720"/>
            <a:ext cx="2624328" cy="1572768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46304" tIns="146304" rIns="146304" bIns="146304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B1D33"/>
                </a:solidFill>
                <a:latin typeface="Arial"/>
                <a:cs typeface="Arial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4A5866"/>
                </a:solidFill>
                <a:latin typeface="Calibri"/>
                <a:cs typeface="Calibri"/>
              </a:rPr>
              <a:t>false alarms on correct, reordered and blocked-camera runs, in both experiments</a:t>
            </a:r>
          </a:p>
        </p:txBody>
      </p:sp>
      <p:sp>
        <p:nvSpPr>
          <p:cNvPr id="9" name="Box 9"/>
          <p:cNvSpPr/>
          <p:nvPr/>
        </p:nvSpPr>
        <p:spPr>
          <a:xfrm>
            <a:off x="6192317" y="1188720"/>
            <a:ext cx="2624328" cy="1572768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46304" tIns="146304" rIns="146304" bIns="146304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B1D33"/>
                </a:solidFill>
                <a:latin typeface="Arial"/>
                <a:cs typeface="Arial"/>
              </a:rPr>
              <a:t>1 file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4A5866"/>
                </a:solidFill>
                <a:latin typeface="Calibri"/>
                <a:cs typeface="Calibri"/>
              </a:rPr>
              <a:t>to add a new experiment — no retraining, no code change</a:t>
            </a:r>
          </a:p>
        </p:txBody>
      </p:sp>
      <p:sp>
        <p:nvSpPr>
          <p:cNvPr id="10" name="Box 10"/>
          <p:cNvSpPr/>
          <p:nvPr/>
        </p:nvSpPr>
        <p:spPr>
          <a:xfrm>
            <a:off x="9014155" y="1188720"/>
            <a:ext cx="2624328" cy="1572768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46304" tIns="146304" rIns="146304" bIns="146304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B1D33"/>
                </a:solidFill>
                <a:latin typeface="Arial"/>
                <a:cs typeface="Arial"/>
              </a:rPr>
              <a:t>13.4 FPS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4A5866"/>
                </a:solidFill>
                <a:latin typeface="Calibri"/>
                <a:cs typeface="Calibri"/>
              </a:rPr>
              <a:t>on a laptop CPU, in the slowest 5% of frames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30632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Arial"/>
                <a:cs typeface="Arial"/>
              </a:rPr>
              <a:t>Crew and mission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48640" y="3474720"/>
            <a:ext cx="3566160" cy="1920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Fewer experiment runs lost to a missed step.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Hands-free guidance: attention stays on the task.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Safety rules catch hazards no checklist can see.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311396" y="30632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Arial"/>
                <a:cs typeface="Arial"/>
              </a:rPr>
              <a:t>ISRO operations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311396" y="3474720"/>
            <a:ext cx="3566160" cy="1920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A verifiable record of every run for the principal investigator.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A tiny downlink footprint that fits constrained links.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One system across the payload catalogue — procedures are data.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074152" y="30632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Arial"/>
                <a:cs typeface="Arial"/>
              </a:rPr>
              <a:t>Society and economy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074152" y="3474720"/>
            <a:ext cx="3566160" cy="1920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Indigenous capability for Gaganyaan and Bharatiya Antariksh Station.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Transfers to laboratory, pharma and manufacturing SOP compliance.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350" b="0" dirty="0">
                <a:solidFill>
                  <a:srgbClr val="15202B"/>
                </a:solidFill>
                <a:latin typeface="Calibri"/>
                <a:cs typeface="Calibri"/>
              </a:rPr>
              <a:t>Privacy by design: video never has to leave the station.</a:t>
            </a:r>
          </a:p>
        </p:txBody>
      </p:sp>
      <p:sp>
        <p:nvSpPr>
          <p:cNvPr id="17" name="Box 17"/>
          <p:cNvSpPr/>
          <p:nvPr/>
        </p:nvSpPr>
        <p:spPr>
          <a:xfrm>
            <a:off x="548640" y="5486400"/>
            <a:ext cx="11091672" cy="749808"/>
          </a:xfrm>
          <a:prstGeom prst="roundRect">
            <a:avLst>
              <a:gd name="adj" fmla="val 7000"/>
            </a:avLst>
          </a:prstGeom>
          <a:solidFill>
            <a:srgbClr val="0B1D33"/>
          </a:solidFill>
          <a:ln>
            <a:noFill/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58E26"/>
                </a:solidFill>
                <a:latin typeface="Arial"/>
                <a:cs typeface="Arial"/>
              </a:rPr>
              <a:t>Why it has to run on board  </a:t>
            </a:r>
            <a:r>
              <a:rPr lang="en-US" sz="1250" b="0" dirty="0">
                <a:solidFill>
                  <a:srgbClr val="FFFFFF"/>
                </a:solidFill>
                <a:latin typeface="Calibri"/>
                <a:cs typeface="Calibri"/>
              </a:rPr>
              <a:t>A round trip to the Moon takes about 2.6 s and to Mars 6 to 44 minutes. Ground control cannot watch a step as it happens; the witness has to be on the station.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B1D33"/>
                </a:solidFill>
                <a:latin typeface="Arial"/>
                <a:cs typeface="Arial"/>
              </a:rPr>
              <a:t>Research and references</a:t>
            </a:r>
          </a:p>
        </p:txBody>
      </p:sp>
      <p:sp>
        <p:nvSpPr>
          <p:cNvPr id="4" name="Kicker 4"/>
          <p:cNvSpPr txBox="1"/>
          <p:nvPr/>
        </p:nvSpPr>
        <p:spPr>
          <a:xfrm>
            <a:off x="8595360" y="38404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dirty="0">
                <a:solidFill>
                  <a:srgbClr val="75828E"/>
                </a:solidFill>
                <a:latin typeface="Calibri"/>
                <a:cs typeface="Calibri"/>
              </a:rPr>
              <a:t>SIH 2026 · PS 26174 · Space Technology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PARIKSHAK · on-board procedure witness</a:t>
            </a:r>
          </a:p>
        </p:txBody>
      </p:sp>
      <p:sp>
        <p:nvSpPr>
          <p:cNvPr id="6" name="Page 6"/>
          <p:cNvSpPr txBox="1"/>
          <p:nvPr/>
        </p:nvSpPr>
        <p:spPr>
          <a:xfrm>
            <a:off x="10241280" y="6419088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b="0" dirty="0">
                <a:solidFill>
                  <a:srgbClr val="75828E"/>
                </a:solidFill>
                <a:latin typeface="Calibri"/>
                <a:cs typeface="Calibri"/>
              </a:rPr>
              <a:t>6 / 6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188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B1D33"/>
                </a:solidFill>
                <a:latin typeface="Arial"/>
                <a:cs typeface="Arial"/>
              </a:rPr>
              <a:t>Datasets and benchmarks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48640" y="1627632"/>
            <a:ext cx="356616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MicroG-4M — microgravity human activity (arXiv:2506.02845)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IndustReal — procedure step recognition, WACV 2024 (arXiv:2310.17323)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Assembly101 — mistake detection, CVPR 2022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CaptainCook4D — procedural error taxonomy (arXiv:2312.14556)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EgoPER — error detection in procedural video, CVPR 2024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PREGO — online mistake detection, CVPR 2024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HoloAssist — interactive assistance, ICCV 2023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1396" y="1188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B1D33"/>
                </a:solidFill>
                <a:latin typeface="Arial"/>
                <a:cs typeface="Arial"/>
              </a:rPr>
              <a:t>Methods and tools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311396" y="1627632"/>
            <a:ext cx="356616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AprilTag 3 — fiducial markers, IROS 2019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RT-DETR — real-time detection (arXiv:2304.08069)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MediaPipe Hands; RTMPose / MMPose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ByteTrack — multi-object tracking (arXiv:2110.06864)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MS-TCN++ — temporal action segmentation, TPAMI 2020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Page's CUSUM — sequential change detection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Piper TTS; whisper.cpp; OpenCV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074152" y="1188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B1D33"/>
                </a:solidFill>
                <a:latin typeface="Arial"/>
                <a:cs typeface="Arial"/>
              </a:rPr>
              <a:t>Standards and mission context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074152" y="1627632"/>
            <a:ext cx="356616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NASA-STD-3001 — Space Flight Human-System Standard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CCSDS 727.0-B — CCSDS File Delivery Protocol (CFDP)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ISRO — Gaganyaan and Bharatiya Antariksh Station (isro.gov.in)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Digital Personal Data Protection Act, 2023 (MeitY)</a:t>
            </a:r>
          </a:p>
          <a:p>
            <a:pPr algn="l" marL="228600" indent="-228600">
              <a:lnSpc>
                <a:spcPct val="100000"/>
              </a:lnSpc>
              <a:spcAft>
                <a:spcPts val="700"/>
              </a:spcAft>
              <a:buClr>
                <a:srgbClr val="15202B"/>
              </a:buClr>
              <a:buFont typeface="Arial"/>
              <a:buChar char="•"/>
            </a:pPr>
            <a:r>
              <a:rPr lang="en-US" sz="1200" b="0" dirty="0">
                <a:solidFill>
                  <a:srgbClr val="15202B"/>
                </a:solidFill>
                <a:latin typeface="Calibri"/>
                <a:cs typeface="Calibri"/>
              </a:rPr>
              <a:t>Vision-based mistake analysis in procedural activities: a review (arXiv:2510.19292)</a:t>
            </a:r>
          </a:p>
        </p:txBody>
      </p:sp>
      <p:sp>
        <p:nvSpPr>
          <p:cNvPr id="13" name="Box 13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txBody>
          <a:bodyPr wrap="square" lIns="128016" tIns="128016" rIns="128016" bIns="128016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50" b="1" dirty="0">
                <a:solidFill>
                  <a:srgbClr val="0B1D33"/>
                </a:solidFill>
                <a:latin typeface="Arial"/>
                <a:cs typeface="Arial"/>
              </a:rPr>
              <a:t>Prototype and documentation  </a:t>
            </a:r>
            <a:r>
              <a:rPr lang="en-US" sz="1200" b="0" dirty="0">
                <a:solidFill>
                  <a:srgbClr val="4A5866"/>
                </a:solidFill>
                <a:latin typeface="Calibri"/>
                <a:cs typeface="Calibri"/>
              </a:rPr>
              <a:t>run it with  python -m demo  ·  full write-up in docs/PROJECT_DOCUMENTATION.md  ·  every figure on these slides is read from runs/ when the deck is built.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IKSHAK">
  <a:themeElements>
    <a:clrScheme name="PARIKSHAK">
      <a:dk1>
        <a:srgbClr val="15202B"/>
      </a:dk1>
      <a:lt1>
        <a:srgbClr val="FFFFFF"/>
      </a:lt1>
      <a:dk2>
        <a:srgbClr val="0B1D33"/>
      </a:dk2>
      <a:lt2>
        <a:srgbClr val="EEF2F6"/>
      </a:lt2>
      <a:accent1>
        <a:srgbClr val="2D5BD8"/>
      </a:accent1>
      <a:accent2>
        <a:srgbClr val="E58E26"/>
      </a:accent2>
      <a:accent3>
        <a:srgbClr val="1E8457"/>
      </a:accent3>
      <a:accent4>
        <a:srgbClr val="C0392B"/>
      </a:accent4>
      <a:accent5>
        <a:srgbClr val="5F6196"/>
      </a:accent5>
      <a:accent6>
        <a:srgbClr val="4A5866"/>
      </a:accent6>
      <a:hlink>
        <a:srgbClr val="2D5BD8"/>
      </a:hlink>
      <a:folHlink>
        <a:srgbClr val="5F6196"/>
      </a:folHlink>
    </a:clrScheme>
    <a:fontScheme name="PARIKSHAK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PARIKSHAK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PARIKSHAK make_deck.py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PARIKSHAK — SIH 2026 idea submission (PS 26174)</dc:title>
  <dc:creator>PARIKSHAK team</dc:creator>
</cp:coreProperties>
</file>