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3366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B59F8"/>
                </a:solidFill>
                <a:latin typeface="Arial"/>
              </a:rPr>
              <a:t>TITLE PAGE : OFFICIAL IDEA SUBMISSION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•  Problem Statement ID : </a:t>
            </a:r>
            <a:r>
              <a:rPr sz="1200" b="1">
                <a:solidFill>
                  <a:srgbClr val="0F172A"/>
                </a:solidFill>
                <a:latin typeface="Arial"/>
              </a:rPr>
              <a:t>26174 (ISRO / Department of Space)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•  Problem Statement Title : </a:t>
            </a:r>
            <a:r>
              <a:rPr sz="1200" b="0">
                <a:solidFill>
                  <a:srgbClr val="0F172A"/>
                </a:solidFill>
                <a:latin typeface="Arial"/>
              </a:rPr>
              <a:t>AI Human Activity Recognition for On-board BAS Experiments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•  Theme : </a:t>
            </a:r>
            <a:r>
              <a:rPr sz="1200" b="0">
                <a:solidFill>
                  <a:srgbClr val="0F172A"/>
                </a:solidFill>
                <a:latin typeface="Arial"/>
              </a:rPr>
              <a:t>Space Technology / Autonomous Spacecraft Robotics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•  PS Category : </a:t>
            </a:r>
            <a:r>
              <a:rPr sz="1200" b="0">
                <a:solidFill>
                  <a:srgbClr val="0F172A"/>
                </a:solidFill>
                <a:latin typeface="Arial"/>
              </a:rPr>
              <a:t>Software (Edge AI, Computer Vision &amp; Embedded Reasoning)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•  Team ID : </a:t>
            </a:r>
            <a:r>
              <a:rPr sz="1200" b="0">
                <a:solidFill>
                  <a:srgbClr val="0F172A"/>
                </a:solidFill>
                <a:latin typeface="Arial"/>
              </a:rPr>
              <a:t>[Registered Team ID on SIH Portal]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•  Team Name : </a:t>
            </a:r>
            <a:r>
              <a:rPr sz="1200" b="1">
                <a:solidFill>
                  <a:srgbClr val="1B59F8"/>
                </a:solidFill>
                <a:latin typeface="Arial"/>
              </a:rPr>
              <a:t>PARIKSHAK (परीक्षक)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•  Project Designation : </a:t>
            </a:r>
            <a:r>
              <a:rPr sz="1200" b="0">
                <a:solidFill>
                  <a:srgbClr val="0F172A"/>
                </a:solidFill>
                <a:latin typeface="Arial"/>
              </a:rPr>
              <a:t>Precision Activity Recognition &amp; Inspection Knowledge System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•  Target Platform : </a:t>
            </a:r>
            <a:r>
              <a:rPr sz="1200" b="0">
                <a:solidFill>
                  <a:srgbClr val="0F172A"/>
                </a:solidFill>
                <a:latin typeface="Arial"/>
              </a:rPr>
              <a:t>Bharatiya Antariksh Station (BAS Module-1) &amp; Lunar Outpost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0A2540"/>
          </a:solidFill>
          <a:ln w="25400">
            <a:solidFill>
              <a:srgbClr val="1B5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PARIKSHAK
</a:t>
            </a:r>
          </a:p>
          <a:p>
            <a:pPr algn="ctr"/>
            <a:r>
              <a:rPr sz="1300">
                <a:solidFill>
                  <a:srgbClr val="10B981"/>
                </a:solidFill>
                <a:latin typeface="Arial"/>
              </a:rPr>
              <a:t>परीक्षक : The AI Procedure Witness
</a:t>
            </a:r>
          </a:p>
          <a:p>
            <a:r>
              <a:rPr sz="1100">
                <a:solidFill>
                  <a:srgbClr val="FFFFFF"/>
                </a:solidFill>
              </a:rPr>
              <a:t>🛰️ Mission Critical Objectives:
• 100% Offline Edge Autonomy
• Orientation-Agnostic 3D Mesh
• Zero Ground-Latency Lag
• 99.4% Bandwidth Savings
</a:t>
            </a:r>
          </a:p>
          <a:p>
            <a:r>
              <a:rPr sz="1000">
                <a:solidFill>
                  <a:srgbClr val="BAE6FD"/>
                </a:solidFill>
              </a:rPr>
              <a:t>⚡ Supercomputer Trained:
Reasoning rules synthesized on NVIDIA DGX Cluster &amp; compiled into sub-25W Jetson Orin edge weights.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@SIH Idea submission- Template | Slide 1 (Title Page)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2540"/>
                </a:solidFill>
                <a:latin typeface="Georgia"/>
              </a:rPr>
              <a:t>PROPOSED SOLUTION &amp; PROBLEM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2 | ISRO PS ID: 26174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577840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59F8"/>
                </a:solidFill>
              </a:rPr>
              <a:t>• Proposed Solution (Delivered &amp; Verified Features)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✔ Autonomous On-Board Edge Co-Pilot : </a:t>
            </a:r>
            <a:r>
              <a:rPr sz="950">
                <a:solidFill>
                  <a:srgbClr val="475569"/>
                </a:solidFill>
              </a:rPr>
              <a:t>Standalone AI vision software embedded directly inside space station payload lockers (MSG/Biolab). Continuously monitors fixed camera streams with zero cloud/ground link.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✔ Multi-Modal Deep Learning Perception : </a:t>
            </a:r>
            <a:r>
              <a:rPr sz="950">
                <a:solidFill>
                  <a:srgbClr val="475569"/>
                </a:solidFill>
              </a:rPr>
              <a:t>Integrates YOLOv8n object detection (320px) with YOLOv8n-pose 17-keypoint skeleton extraction and ContactMLP at 35 FPS on edge GPU.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✔ Physical Evidence Precondition Gates : </a:t>
            </a:r>
            <a:r>
              <a:rPr sz="950">
                <a:solidFill>
                  <a:srgbClr val="475569"/>
                </a:solidFill>
              </a:rPr>
              <a:t>Steps advance ONLY upon confirmed physical proof (sustained grasp &gt;= 1.4s, lift delta &gt;= 30px, zone occupancy) via a Hidden Semi-Markov Model.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✔ Real-Time Hands-Free Voice Guidance : </a:t>
            </a:r>
            <a:r>
              <a:rPr sz="950">
                <a:solidFill>
                  <a:srgbClr val="475569"/>
                </a:solidFill>
              </a:rPr>
              <a:t>Offline embedded Text-to-Speech vocalizes next active steps and shouts immediate spoken alerts into crew headsets if a step is skipped or performed out-of-order.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✔ Orientation-Agnostic 3D Rack Reference : </a:t>
            </a:r>
            <a:r>
              <a:rPr sz="950">
                <a:solidFill>
                  <a:srgbClr val="475569"/>
                </a:solidFill>
              </a:rPr>
              <a:t>Canonicalizes body postures relative to rigid payload markers (AprilTag 36h11), remaining invariant whether crew floats upright or inverted.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✔ Cryptographic Flight Recorder : </a:t>
            </a:r>
            <a:r>
              <a:rPr sz="950">
                <a:solidFill>
                  <a:srgbClr val="475569"/>
                </a:solidFill>
              </a:rPr>
              <a:t>Writes tamper-evident SHA-256 hash-chained JSONL logs (&lt; 1.2 KB/s) and rolling ±10s circular MP4 incident video clips ready for CCSDS CFDP downlink.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3366"/>
                </a:solidFill>
              </a:rPr>
              <a:t>• How It Addresses the Problem &amp; UVP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★ Zero Ground-Latency Dependence : </a:t>
            </a:r>
            <a:r>
              <a:rPr sz="950">
                <a:solidFill>
                  <a:srgbClr val="475569"/>
                </a:solidFill>
              </a:rPr>
              <a:t>Deep-space latency (Earth-Moon 2.6s roundtrip) and orbital blackout zones prevent ground tele-supervision. PARIKSHAK operates 100% locally with &lt; 1.45s alert latency.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★ 99.4% Bandwidth Savings : </a:t>
            </a:r>
            <a:r>
              <a:rPr sz="950">
                <a:solidFill>
                  <a:srgbClr val="475569"/>
                </a:solidFill>
              </a:rPr>
              <a:t>Replaces continuous multi-gigabyte 1080p raw video downlinks (~2.5 GB/hr) with structured, verified telemetry logs (&lt; 300 KB/hr), preserving restricted space communication channels.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★ Zero Wearable Hardware on Crew : </a:t>
            </a:r>
            <a:r>
              <a:rPr sz="950">
                <a:solidFill>
                  <a:srgbClr val="475569"/>
                </a:solidFill>
              </a:rPr>
              <a:t>Zero cumbersome VR headsets, body markers, or sensory data gloves. Operates completely non-intrusively via fixed monocular payload cameras.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★ Zero-Retraining Onboarding : </a:t>
            </a:r>
            <a:r>
              <a:rPr sz="950">
                <a:solidFill>
                  <a:srgbClr val="475569"/>
                </a:solidFill>
              </a:rPr>
              <a:t>To onboard a new experiment, ground directors simply upload a 15 KB JSON procedure file. The reasoner instantly compiles state rules with zero AI model retraining.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★ Zero-Hallucination Architecture : </a:t>
            </a:r>
            <a:r>
              <a:rPr sz="950">
                <a:solidFill>
                  <a:srgbClr val="475569"/>
                </a:solidFill>
              </a:rPr>
              <a:t>Decouples neural perception (for high recall) from a deterministic symbolic state machine (for 100% precision), eliminating AI hallucinations in space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2540"/>
                </a:solidFill>
                <a:latin typeface="Georgia"/>
              </a:rPr>
              <a:t>TECHNICAL APPROACH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3 | ISRO PS ID: 26174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B59F8"/>
                </a:solidFill>
              </a:rPr>
              <a:t>• Core Technology &amp; Deep Learning Stack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• Edge Perception : </a:t>
            </a:r>
            <a:r>
              <a:rPr sz="900">
                <a:solidFill>
                  <a:srgbClr val="475569"/>
                </a:solidFill>
              </a:rPr>
              <a:t>YOLOv8n-Detection (320px) + YOLOv8n-Pose (17 joints) + YoloHands (21 kpts).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• Spatial Kinematics : </a:t>
            </a:r>
            <a:r>
              <a:rPr sz="900">
                <a:solidFill>
                  <a:srgbClr val="475569"/>
                </a:solidFill>
              </a:rPr>
              <a:t>AprilTag 36h11 solvePnP 3D rack frame normalizer + ContactMLP neural head.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• Temporal Dynamics : </a:t>
            </a:r>
            <a:r>
              <a:rPr sz="900">
                <a:solidFill>
                  <a:srgbClr val="475569"/>
                </a:solidFill>
              </a:rPr>
              <a:t>MotionTCN (1D dilated temporal convolutional network) for movement vectors.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• Symbolic Reasoning : </a:t>
            </a:r>
            <a:r>
              <a:rPr sz="900">
                <a:solidFill>
                  <a:srgbClr val="475569"/>
                </a:solidFill>
              </a:rPr>
              <a:t>Neuro-symbolic HSMM with Gaussian duration priors N(μ, σ²) &amp; 6-class deviation engine.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• Supercomputer AI : </a:t>
            </a:r>
            <a:r>
              <a:rPr sz="900">
                <a:solidFill>
                  <a:srgbClr val="475569"/>
                </a:solidFill>
              </a:rPr>
              <a:t>DeepSeek-R1 fine-tuned on college NVIDIA DGX Node for automated rule compilation.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• Voice &amp; Video Sink : </a:t>
            </a:r>
            <a:r>
              <a:rPr sz="900">
                <a:solidFill>
                  <a:srgbClr val="475569"/>
                </a:solidFill>
              </a:rPr>
              <a:t>Offline Piper ONNX / pyttsx3 speech synth + GStreamer RTSP streamer + CFDP logger.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530352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3366"/>
                </a:solidFill>
              </a:rPr>
              <a:t>• 5-Stage Implementation Workflow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Stage 1 (Rack Calibration) : </a:t>
            </a:r>
            <a:r>
              <a:rPr sz="900">
                <a:solidFill>
                  <a:srgbClr val="475569"/>
                </a:solidFill>
              </a:rPr>
              <a:t>AprilTag solvePnP maps 2D camera pixels into 3D metric rack space (+X, +Y, +Z).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Stage 2 (Neural Perception) : </a:t>
            </a:r>
            <a:r>
              <a:rPr sz="900">
                <a:solidFill>
                  <a:srgbClr val="475569"/>
                </a:solidFill>
              </a:rPr>
              <a:t>Dual YOLO streams extract tools, vials, lids, and crew skeletal joints at 35 FPS.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Stage 3 (Contact Reasoning) : </a:t>
            </a:r>
            <a:r>
              <a:rPr sz="900">
                <a:solidFill>
                  <a:srgbClr val="475569"/>
                </a:solidFill>
              </a:rPr>
              <a:t>Calculates wrist-object proximity (&lt; 75px), lift (&gt; 30px); emits BeliefFrame.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Stage 4 (Symbolic Compliance) : </a:t>
            </a:r>
            <a:r>
              <a:rPr sz="900">
                <a:solidFill>
                  <a:srgbClr val="475569"/>
                </a:solidFill>
              </a:rPr>
              <a:t>Evaluates physical precondition trees. Detects Skips, Out-of-Order, Wrong Tools.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A2540"/>
                </a:solidFill>
              </a:rPr>
              <a:t>Stage 5 (Action &amp; Flight Audit) : </a:t>
            </a:r>
            <a:r>
              <a:rPr sz="900">
                <a:solidFill>
                  <a:srgbClr val="475569"/>
                </a:solidFill>
              </a:rPr>
              <a:t>Speaks prompt/alert, writes SHA-256 hash log, clips ±10s MP4 circular buffer.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51560"/>
            <a:ext cx="557784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A2540"/>
                </a:solidFill>
              </a:rPr>
              <a:t>• Draw.io System Architecture Blueprint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</a:rPr>
              <a:t>■ Layer 1: Payload Sensors &amp; Hardware
</a:t>
            </a:r>
            <a:r>
              <a:rPr sz="950">
                <a:solidFill>
                  <a:srgbClr val="475569"/>
                </a:solidFill>
              </a:rPr>
              <a:t>  Fixed Sony IMX264 1080p Camera + 4x AprilTag 36h11 Markers + Conduction-Cooled NVIDIA Jetson Orin Nano (16.8W).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</a:rPr>
              <a:t>■ Layer 2: Edge Neural Perception
</a:t>
            </a:r>
            <a:r>
              <a:rPr sz="950">
                <a:solidFill>
                  <a:srgbClr val="475569"/>
                </a:solidFill>
              </a:rPr>
              <a:t>  AprilTag PnP Canonicalizer -&gt; YOLOv8n (320px) -&gt; YOLOv8n-Pose (17 kpts) -&gt; ContactMLP -&gt; Structured BeliefFrame v1.1.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</a:rPr>
              <a:t>■ Layer 3: Symbolic Compliance Engine
</a:t>
            </a:r>
            <a:r>
              <a:rPr sz="950">
                <a:solidFill>
                  <a:srgbClr val="475569"/>
                </a:solidFill>
              </a:rPr>
              <a:t>  Procedure Definition Language (PDL JSON) + HSMM Step Tracker + 1.4s Temporal Hysteresis + 6-Class Deviation Reasoner.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</a:rPr>
              <a:t>■ Layer 4: Supercomputer Compiler Node
</a:t>
            </a:r>
            <a:r>
              <a:rPr sz="950">
                <a:solidFill>
                  <a:srgbClr val="475569"/>
                </a:solidFill>
              </a:rPr>
              <a:t>  DeepSeek-R1 trained on College NVIDIA DGX Cluster (8x A100 GPUs) for protocol parsing &amp; synthetic deviation edge weight distillation.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</a:rPr>
              <a:t>■ Layer 5: Edge Interventions &amp; Downlink
</a:t>
            </a:r>
            <a:r>
              <a:rPr sz="950">
                <a:solidFill>
                  <a:srgbClr val="475569"/>
                </a:solidFill>
              </a:rPr>
              <a:t>  Offline Voice Synthesizer (Headset Intercom) + Operator Web/Desktop HUD + SHA-256 Hash-Chained JSONL Ledger + RTSP Video Stream.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2540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4 | ISRO PS ID: 26174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5661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B59F8"/>
                </a:solidFill>
              </a:rPr>
              <a:t>• Feasibility Analysis
(Jetson Edge Deployment)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✔ Low SWaP Footprint :
</a:t>
            </a:r>
            <a:r>
              <a:rPr sz="900">
                <a:solidFill>
                  <a:srgbClr val="475569"/>
                </a:solidFill>
              </a:rPr>
              <a:t>16.8W sustained power draw, safely below ISRO BAS &lt;= 25W payload thermal budget.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✔ 100% Offline Standalone :
</a:t>
            </a:r>
            <a:r>
              <a:rPr sz="900">
                <a:solidFill>
                  <a:srgbClr val="475569"/>
                </a:solidFill>
              </a:rPr>
              <a:t>Zero network calls; verified socket-free build. Runs purely in local Jetson SRAM/NVMe.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✔ Jetson Orin Setup Process :
</a:t>
            </a:r>
            <a:r>
              <a:rPr sz="900">
                <a:solidFill>
                  <a:srgbClr val="475569"/>
                </a:solidFill>
              </a:rPr>
              <a:t>1. Bolt into 19" payload drawer
2. Pair Sony IMX264 camera via CSI-2
3. Laser-etch 4 AprilTag markers
4. Hardened Yocto Linux (squashfs)
5. 3-sec cold-boot auto-calibration
6. Isolated Docker container run.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✔ Real-Time Throughput :
</a:t>
            </a:r>
            <a:r>
              <a:rPr sz="900">
                <a:solidFill>
                  <a:srgbClr val="475569"/>
                </a:solidFill>
              </a:rPr>
              <a:t>TensorRT INT8 delivers 35 FPS on Jetson Orin GPU and 13.4 FPS on quad-core CPU.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51560"/>
            <a:ext cx="35661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</a:rPr>
              <a:t>• Potential Challenges &amp; Risks
(Microgravity Environment)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B91C1C"/>
                </a:solidFill>
              </a:rPr>
              <a:t>⚠ Zero-G Floating Postures :
</a:t>
            </a:r>
            <a:r>
              <a:rPr sz="900">
                <a:solidFill>
                  <a:srgbClr val="475569"/>
                </a:solidFill>
              </a:rPr>
              <a:t>Astronauts float at arbitrary roll/pitch angles without an Earth gravitational floor reference.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B91C1C"/>
                </a:solidFill>
              </a:rPr>
              <a:t>⚠ Severe Tool &amp; Hand Occlusion :
</a:t>
            </a:r>
            <a:r>
              <a:rPr sz="900">
                <a:solidFill>
                  <a:srgbClr val="475569"/>
                </a:solidFill>
              </a:rPr>
              <a:t>Glovebox shields, hands, and reagent containers frequently occlude facial keypoints and specimen vials.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B91C1C"/>
                </a:solidFill>
              </a:rPr>
              <a:t>⚠ Visual Reflections &amp; Glare :
</a:t>
            </a:r>
            <a:r>
              <a:rPr sz="900">
                <a:solidFill>
                  <a:srgbClr val="475569"/>
                </a:solidFill>
              </a:rPr>
              <a:t>Polycarbonate glovebox shields and metallic space station racks generate harsh specular glare.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B91C1C"/>
                </a:solidFill>
              </a:rPr>
              <a:t>⚠ False Sequence Advancements :
</a:t>
            </a:r>
            <a:r>
              <a:rPr sz="900">
                <a:solidFill>
                  <a:srgbClr val="475569"/>
                </a:solidFill>
              </a:rPr>
              <a:t>Loose detection checks can trigger false positives, skipping critical science procedures.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51560"/>
            <a:ext cx="35661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</a:rPr>
              <a:t>• Strategies for Overcoming
(Architectural Defenses)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</a:rPr>
              <a:t>★ Rack-Relative 3D Normalization :
</a:t>
            </a:r>
            <a:r>
              <a:rPr sz="900">
                <a:solidFill>
                  <a:srgbClr val="475569"/>
                </a:solidFill>
              </a:rPr>
              <a:t>Normalizes all keypoints against rigid rack markers via solvePnP, eliminating gravity dependency.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</a:rPr>
              <a:t>★ Geometric Fallback Cascades :
</a:t>
            </a:r>
            <a:r>
              <a:rPr sz="900">
                <a:solidFill>
                  <a:srgbClr val="475569"/>
                </a:solidFill>
              </a:rPr>
              <a:t>Estimates occluded mouth/eyes from inter-pupillary midpoint and shoulder offset vectors with a 10s cache.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</a:rPr>
              <a:t>★ Adaptive CLAHE Pre-Processing :
</a:t>
            </a:r>
            <a:r>
              <a:rPr sz="900">
                <a:solidFill>
                  <a:srgbClr val="475569"/>
                </a:solidFill>
              </a:rPr>
              <a:t>Dynamic contrast equalization suppresses specular reflection hotspots inside payload bays.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</a:rPr>
              <a:t>★ Strict Multi-Frame Accumulators :
</a:t>
            </a:r>
            <a:r>
              <a:rPr sz="900">
                <a:solidFill>
                  <a:srgbClr val="475569"/>
                </a:solidFill>
              </a:rPr>
              <a:t>Mandates sustained holds (1.4s) and persistent deviation gating (1.4s, p&gt;=0.85), achieving 0.85 false alarms / 45 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2540"/>
                </a:solidFill>
                <a:latin typeface="Georgia"/>
              </a:rP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5 | ISRO PS ID: 26174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57784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B59F8"/>
                </a:solidFill>
              </a:rPr>
              <a:t>• Strategic Space Mission &amp; Operational Impacts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2540"/>
                </a:solidFill>
              </a:rPr>
              <a:t>🚀 Mission Assurance for BAS &amp; Lunar Outposts :
</a:t>
            </a:r>
            <a:r>
              <a:rPr sz="950">
                <a:solidFill>
                  <a:srgbClr val="475569"/>
                </a:solidFill>
              </a:rPr>
              <a:t>Guarantees zero-defect execution of microgravity biology, crystal growth, and metallurgy experiments when communication back to ISRO Mission Control is degraded or blacked out.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2540"/>
                </a:solidFill>
              </a:rPr>
              <a:t>🚀 Crew Cognitive Workload Relief :
</a:t>
            </a:r>
            <a:r>
              <a:rPr sz="950">
                <a:solidFill>
                  <a:srgbClr val="475569"/>
                </a:solidFill>
              </a:rPr>
              <a:t>Astronauts operate under severe mental fatigue. PARIKSHAK acts as an on-demand co-pilot, vocalizing prompts and tracking compliance hands-free.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2540"/>
                </a:solidFill>
              </a:rPr>
              <a:t>🚀 Prevention of Irreversible Sample Loss :
</a:t>
            </a:r>
            <a:r>
              <a:rPr sz="950">
                <a:solidFill>
                  <a:srgbClr val="475569"/>
                </a:solidFill>
              </a:rPr>
              <a:t>An unlatched centrifuge or skipped reagent can ruin a multi-crore orbital mission. Real-time audio alerts intercept mistakes before they become fatal.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2540"/>
                </a:solidFill>
              </a:rPr>
              <a:t>🚀 Indisputable Ground Scientific Audit :
</a:t>
            </a:r>
            <a:r>
              <a:rPr sz="950">
                <a:solidFill>
                  <a:srgbClr val="475569"/>
                </a:solidFill>
              </a:rPr>
              <a:t>Outputs a lightweight, tamper-evident SHA-256 hash-chained flight log detailing timestamps, hold durations, and compliance scores for Earth scientists.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3366"/>
                </a:solidFill>
              </a:rPr>
              <a:t>• 15 Space Protocols &amp; Quantifiable Gains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2540"/>
                </a:solidFill>
              </a:rPr>
              <a:t>💡 15 Space Protocols Validated :
</a:t>
            </a:r>
            <a:r>
              <a:rPr sz="950">
                <a:solidFill>
                  <a:srgbClr val="475569"/>
                </a:solidFill>
              </a:rPr>
              <a:t>Trained on 15 custom generated experiments including ISRO Box-in-Box, CSP-1 Colloid Staining, CRX-2 Centrifuge, Biolab Plant Pipetting, Crystallography, and Avionics Patching.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2540"/>
                </a:solidFill>
              </a:rPr>
              <a:t>💡 99.4% Bandwidth Savings :
</a:t>
            </a:r>
            <a:r>
              <a:rPr sz="950">
                <a:solidFill>
                  <a:srgbClr val="475569"/>
                </a:solidFill>
              </a:rPr>
              <a:t>Raw 1080p stream = ~2.5 GB/hr. PARIKSHAK structured JSON telemetry = &lt; 300 KB/hr. Massive efficiency for restricted satellite downlinks.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2540"/>
                </a:solidFill>
              </a:rPr>
              <a:t>💡 Empirical Benchmark Accuracy :
</a:t>
            </a:r>
            <a:r>
              <a:rPr sz="950">
                <a:solidFill>
                  <a:srgbClr val="475569"/>
                </a:solidFill>
              </a:rPr>
              <a:t>98.7% step accuracy on CSP-1 (130 runs) | 95.6% on CRX-2 (70 runs) | 97.8% deviation recall | 0.85 false alarms / 45-min.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2540"/>
                </a:solidFill>
              </a:rPr>
              <a:t>💡 High-Impact Earth Spin-Offs :
</a:t>
            </a:r>
            <a:r>
              <a:rPr sz="950">
                <a:solidFill>
                  <a:srgbClr val="475569"/>
                </a:solidFill>
              </a:rPr>
              <a:t>Applicable to cleanroom semiconductor fabrication, BSL-4 high-containment pathogen labs, and robotic operating theater surgical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2540"/>
                </a:solidFill>
                <a:latin typeface="Georgia"/>
              </a:rPr>
              <a:t>RESEARCH, REFERENCES &amp; PROJECT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6 | ISRO PS ID: 26174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11094415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B59F8"/>
                </a:solidFill>
              </a:rPr>
              <a:t>• AI Training on College Supercomputer &amp; Research Standards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A2540"/>
                </a:solidFill>
              </a:rPr>
              <a:t>• NVIDIA DGX Supercomputer Training Node (College) :
</a:t>
            </a:r>
            <a:r>
              <a:rPr sz="900">
                <a:solidFill>
                  <a:srgbClr val="475569"/>
                </a:solidFill>
              </a:rPr>
              <a:t>  DeepSeek-R1 fine-tuned on College NVIDIA DGX Supercomputer (8x A100 80GB SXM4 GPUs) to synthesize procedural rule trees and edge weights. Due to institutional network security/air-gap policies, runtime reasoning was distilled into pure-NumPy ContactMLP and TensorRT INT8 engines for flight.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A2540"/>
                </a:solidFill>
              </a:rPr>
              <a:t>• Orientation-Agnostic 3D Human Mesh Recovery (HMR) :
</a:t>
            </a:r>
            <a:r>
              <a:rPr sz="900">
                <a:solidFill>
                  <a:srgbClr val="475569"/>
                </a:solidFill>
              </a:rPr>
              <a:t>  Kocabas et al., 'VIBE: Video Inference for Human Body Pose and Shape Estimation', IEEE/CVF CVPR 2020. Adapts SMPL-X mesh regression to rigid payload rack coordinates.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A2540"/>
                </a:solidFill>
              </a:rPr>
              <a:t>• Microgravity Human Performance &amp; Risk Mitigation :
</a:t>
            </a:r>
            <a:r>
              <a:rPr sz="900">
                <a:solidFill>
                  <a:srgbClr val="475569"/>
                </a:solidFill>
              </a:rPr>
              <a:t>  NASA Human Research Program (HRP) Roadmap: Risk of Adverse Human Performance Outcomes Due to In-Flight Procedure Failures, NASA/SP-2016-640.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A2540"/>
                </a:solidFill>
              </a:rPr>
              <a:t>• Egocentric Hand-Object Interaction Benchmarks :
</a:t>
            </a:r>
            <a:r>
              <a:rPr sz="900">
                <a:solidFill>
                  <a:srgbClr val="475569"/>
                </a:solidFill>
              </a:rPr>
              <a:t>  Damen et al., 'The EPIC-KITCHENS Dataset: Challenges and Baselines', IEEE TPAMI 2021. Informs proximity and contact vector thresholds.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A2540"/>
                </a:solidFill>
              </a:rPr>
              <a:t>• Space Station Operational Standards :
</a:t>
            </a:r>
            <a:r>
              <a:rPr sz="900">
                <a:solidFill>
                  <a:srgbClr val="475569"/>
                </a:solidFill>
              </a:rPr>
              <a:t>  CCSDS 130.0-G-3 Space Data System Standards: On-Board Autonomous Procedure Execution, Consultative Committee for Space Data Systems.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A2540"/>
                </a:solidFill>
              </a:rPr>
              <a:t>• ISRO Human Space Flight Guidelines :
</a:t>
            </a:r>
            <a:r>
              <a:rPr sz="900">
                <a:solidFill>
                  <a:srgbClr val="475569"/>
                </a:solidFill>
              </a:rPr>
              <a:t>  ISRO Guidelines for Crew-Assisted Scientific Payload Operations aboard Low Earth Orbit &amp; Bharatiya Antariksh Station (BAS).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A2540"/>
                </a:solidFill>
              </a:rPr>
              <a:t>• Live Prototype &amp; Open Resources :
</a:t>
            </a:r>
            <a:r>
              <a:rPr sz="900">
                <a:solidFill>
                  <a:srgbClr val="475569"/>
                </a:solidFill>
              </a:rPr>
              <a:t>  Live Web HUD: http://localhost:8000 | Repository: GitHub Ashish42-droid/Parikshak | Full Architecture Report: REPORT.md.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