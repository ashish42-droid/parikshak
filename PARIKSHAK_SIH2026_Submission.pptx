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3366"/>
                </a:solidFill>
                <a:latin typeface="Georgia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B59F8"/>
                </a:solidFill>
                <a:latin typeface="Arial"/>
              </a:rPr>
              <a:t>TITLE PAGE : IDEA SUBMISSION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8580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Problem Statement ID : </a:t>
            </a:r>
            <a:r>
              <a:rPr sz="1300" b="1">
                <a:solidFill>
                  <a:srgbClr val="0F172A"/>
                </a:solidFill>
                <a:latin typeface="Arial"/>
              </a:rPr>
              <a:t>26174 (ISRO / Space Science Division)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Problem Statement Title : </a:t>
            </a:r>
            <a:r>
              <a:rPr sz="1300" b="0">
                <a:solidFill>
                  <a:srgbClr val="0F172A"/>
                </a:solidFill>
                <a:latin typeface="Arial"/>
              </a:rPr>
              <a:t>AI-based Human Activity Recognition (HAR) for Space Experiments on Bharatiya Antariksh Station (BAS) and Lunar Missions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Theme : </a:t>
            </a:r>
            <a:r>
              <a:rPr sz="1300" b="0">
                <a:solidFill>
                  <a:srgbClr val="0F172A"/>
                </a:solidFill>
                <a:latin typeface="Arial"/>
              </a:rPr>
              <a:t>Space Technology / Robotics &amp; Smart Automation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PS Category : </a:t>
            </a:r>
            <a:r>
              <a:rPr sz="1300" b="0">
                <a:solidFill>
                  <a:srgbClr val="0F172A"/>
                </a:solidFill>
                <a:latin typeface="Arial"/>
              </a:rPr>
              <a:t>Software (Edge Computer Vision &amp; Autonomous AI)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Team ID : </a:t>
            </a:r>
            <a:r>
              <a:rPr sz="1300" b="0">
                <a:solidFill>
                  <a:srgbClr val="0F172A"/>
                </a:solidFill>
                <a:latin typeface="Arial"/>
              </a:rPr>
              <a:t>[Registered Team ID on SIH Portal]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Team Name : </a:t>
            </a:r>
            <a:r>
              <a:rPr sz="1300" b="1">
                <a:solidFill>
                  <a:srgbClr val="1B59F8"/>
                </a:solidFill>
                <a:latin typeface="Arial"/>
              </a:rPr>
              <a:t>PARIKSHAK (The AI Procedure Witness)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0A2540"/>
                </a:solidFill>
                <a:latin typeface="Arial"/>
              </a:rPr>
              <a:t>•  Core Capability : </a:t>
            </a:r>
            <a:r>
              <a:rPr sz="1300" b="0">
                <a:solidFill>
                  <a:srgbClr val="0F172A"/>
                </a:solidFill>
                <a:latin typeface="Arial"/>
              </a:rPr>
              <a:t>100% Offline Edge HAR, 3D Rack-Relative Kinematics &amp; Voice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737360"/>
            <a:ext cx="3566160" cy="429768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Georgia"/>
              </a:rPr>
              <a:t>PARIKSHAK
</a:t>
            </a:r>
          </a:p>
          <a:p>
            <a:pPr algn="ctr"/>
            <a:r>
              <a:rPr sz="1300">
                <a:solidFill>
                  <a:srgbClr val="10B981"/>
                </a:solidFill>
                <a:latin typeface="Arial"/>
              </a:rPr>
              <a:t>परीक्षक : On-Board Space Witness
</a:t>
            </a:r>
          </a:p>
          <a:p>
            <a:r>
              <a:rPr sz="1100">
                <a:solidFill>
                  <a:srgbClr val="FFFFFF"/>
                </a:solidFill>
              </a:rPr>
              <a:t>🚀 Mission Target:
Bharatiya Antariksh Station (BAS 2028-35) &amp; Gaganyaan Orbital Operations
</a:t>
            </a:r>
          </a:p>
          <a:p>
            <a:r>
              <a:rPr sz="1100">
                <a:solidFill>
                  <a:srgbClr val="BAE6FD"/>
                </a:solidFill>
              </a:rPr>
              <a:t>⚡ Key Innovation:
Orientation-Agnostic Rack Kinematics + Strict Precondition FSM + Zero Ground Bandwidth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@SIH Idea submission- Template | Slide 1 (Title Page)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A2540"/>
                </a:solidFill>
                <a:latin typeface="Georgia"/>
              </a:rPr>
              <a:t>IDEA TITLE: PARIKSHAK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577840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B59F8"/>
                </a:solidFill>
              </a:rPr>
              <a:t>• Proposed Solution (Idea / Prototype)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Autonomous On-Board Edge Co-Pilot: </a:t>
            </a:r>
            <a:r>
              <a:rPr sz="1050">
                <a:solidFill>
                  <a:srgbClr val="475569"/>
                </a:solidFill>
              </a:rPr>
              <a:t>PARIKSHAK is a standalone AI vision system embedded directly on space station payload racks (MSG, Biolab). It continuously processes local camera streams with zero cloud/ground dependency.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Multi-Modal Sequence Verification: </a:t>
            </a:r>
            <a:r>
              <a:rPr sz="1050">
                <a:solidFill>
                  <a:srgbClr val="475569"/>
                </a:solidFill>
              </a:rPr>
              <a:t>Uses sub-100ms YOLOv8-Pose + YOLOv8-Detection combined with orientation-agnostic rack-relative spatial reasoning to track hands, tools, containers, and posture.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Physical Evidence Precondition Gates: </a:t>
            </a:r>
            <a:r>
              <a:rPr sz="1050">
                <a:solidFill>
                  <a:srgbClr val="475569"/>
                </a:solidFill>
              </a:rPr>
              <a:t>Unlike naive sequence models, each step strictly verifies physical prerequisites (e.g. sustained drinking hold &gt;= 1.5s, verified hand grasp, baseline table lift &gt; 30px) before advancing.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• Instant Voice Guidance &amp; Alerts: </a:t>
            </a:r>
            <a:r>
              <a:rPr sz="1050">
                <a:solidFill>
                  <a:srgbClr val="475569"/>
                </a:solidFill>
              </a:rPr>
              <a:t>Synthesizes real-time spoken guidance for astronaut crew: speaks the next active step, alerts immediately if a step is skipped, and warns of wrong tool/object grasp.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03366"/>
                </a:solidFill>
              </a:rPr>
              <a:t>• How It Addresses the Problem &amp; Innovation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★ Zero Ground-Latency Dependence: </a:t>
            </a:r>
            <a:r>
              <a:rPr sz="1050">
                <a:solidFill>
                  <a:srgbClr val="475569"/>
                </a:solidFill>
              </a:rPr>
              <a:t>Lunar (1.3s-2.6s) and deep-space communication delays make Earth-based live supervision impossible. PARIKSHAK operates completely offline at the edge.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★ 99.4% Bandwidth Compression: </a:t>
            </a:r>
            <a:r>
              <a:rPr sz="1050">
                <a:solidFill>
                  <a:srgbClr val="475569"/>
                </a:solidFill>
              </a:rPr>
              <a:t>Instead of streaming gigabytes of raw 1080p video over restricted S-band/Ka-band links, PARIKSHAK converts video to lightweight, timestamped JSON/text audit logs (&lt; 5 KB/min).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★ Rack-Relative 3D Posture Invariance: </a:t>
            </a:r>
            <a:r>
              <a:rPr sz="1050">
                <a:solidFill>
                  <a:srgbClr val="475569"/>
                </a:solidFill>
              </a:rPr>
              <a:t>Ground-based models fail in microgravity where 'up' and 'down' do not exist. PARIKSHAK uses rack-relative coordinate normalization, remaining invariant whether the astronaut is floating upright or upside-down.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A2540"/>
                </a:solidFill>
              </a:rPr>
              <a:t>★ Full-Stack Live Prototype: </a:t>
            </a:r>
            <a:r>
              <a:rPr sz="1050">
                <a:solidFill>
                  <a:srgbClr val="475569"/>
                </a:solidFill>
              </a:rPr>
              <a:t>Tested live on benchmarks: Water Bottle Protocol WBP-1 and space colloid resuspension CRX-2, with live camera feed, OpenCV HUD, audio synth, and deviation injection.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A2540"/>
                </a:solidFill>
                <a:latin typeface="Georgia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303520" cy="2514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B59F8"/>
                </a:solidFill>
              </a:rPr>
              <a:t>• Core Technology Stack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Edge Perception : </a:t>
            </a:r>
            <a:r>
              <a:rPr sz="950">
                <a:solidFill>
                  <a:srgbClr val="475569"/>
                </a:solidFill>
              </a:rPr>
              <a:t>YOLOv8-Pose + YOLOv8-Detection (320px imgsz, sub-100ms CPU inference)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Spatial Kinematics : </a:t>
            </a:r>
            <a:r>
              <a:rPr sz="950">
                <a:solidFill>
                  <a:srgbClr val="475569"/>
                </a:solidFill>
              </a:rPr>
              <a:t>Orientation-Agnostic Rack Reference Calibration, 3D Mesh, Wrist-Target Proximity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Sequence State Machine : </a:t>
            </a:r>
            <a:r>
              <a:rPr sz="950">
                <a:solidFill>
                  <a:srgbClr val="475569"/>
                </a:solidFill>
              </a:rPr>
              <a:t>Finite State Machine with Strict Precondition Guards &amp; Temporal Accumulators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Voice &amp; Interaction : </a:t>
            </a:r>
            <a:r>
              <a:rPr sz="950">
                <a:solidFill>
                  <a:srgbClr val="475569"/>
                </a:solidFill>
              </a:rPr>
              <a:t>Offline Text-to-Speech (pyttsx3 / WebSpeech API) for real-time auditory warnings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Edge Streaming &amp; Storage : </a:t>
            </a:r>
            <a:r>
              <a:rPr sz="950">
                <a:solidFill>
                  <a:srgbClr val="475569"/>
                </a:solidFill>
              </a:rPr>
              <a:t>Local Circular MP4 ring-buffer + RTSP/WebRTC streamer + JSON telemetry logger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530352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3366"/>
                </a:solidFill>
              </a:rPr>
              <a:t>• Implementation Methodology &amp; Architecture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1. Frame Acquisition : </a:t>
            </a:r>
            <a:r>
              <a:rPr sz="950">
                <a:solidFill>
                  <a:srgbClr val="475569"/>
                </a:solidFill>
              </a:rPr>
              <a:t>Fixed-payload camera captures 640x480 video feed at 25-30 FPS.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2. Dual-Stream Detection : </a:t>
            </a:r>
            <a:r>
              <a:rPr sz="950">
                <a:solidFill>
                  <a:srgbClr val="475569"/>
                </a:solidFill>
              </a:rPr>
              <a:t>Detects experiment tools/containers (bounding box + conf) and crew joints.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3. Spatial Relation Engine : </a:t>
            </a:r>
            <a:r>
              <a:rPr sz="950">
                <a:solidFill>
                  <a:srgbClr val="475569"/>
                </a:solidFill>
              </a:rPr>
              <a:t>Computes grasp vectors (wrist-to-box &lt; 75px), lift delta, and mouth proximity.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4. Strict Sequential FSM : </a:t>
            </a:r>
            <a:r>
              <a:rPr sz="950">
                <a:solidFill>
                  <a:srgbClr val="475569"/>
                </a:solidFill>
              </a:rPr>
              <a:t>Step advances ONLY on verified physical evidence. Alerts on deviations.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51560"/>
            <a:ext cx="55778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/>
            <a:r>
              <a:rPr sz="1300" b="1">
                <a:solidFill>
                  <a:srgbClr val="0A2540"/>
                </a:solidFill>
              </a:rPr>
              <a:t>• Working Prototype: Live HUD &amp; Step Verification</a:t>
            </a:r>
          </a:p>
        </p:txBody>
      </p:sp>
      <p:pic>
        <p:nvPicPr>
          <p:cNvPr id="9" name="Picture 8" descr="active_step_geometry_sensors_17904399037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12080" cy="422124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57784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475569"/>
                </a:solidFill>
              </a:rPr>
              <a:t>PARIKSHAK Dashboard: Real-time drinking verification (1.5s hold), geometry sensor grid (Grasp, Lift, Mouth Dist), strict checklist &amp; voice deviation alert.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A2540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5661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B59F8"/>
                </a:solidFill>
              </a:rPr>
              <a:t>• Feasibility Analysis
(Space Edge Deployment)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A2540"/>
                </a:solidFill>
              </a:rPr>
              <a:t>✔ Low SWaP Profile :
</a:t>
            </a:r>
            <a:r>
              <a:rPr sz="950">
                <a:solidFill>
                  <a:srgbClr val="475569"/>
                </a:solidFill>
              </a:rPr>
              <a:t>Runs comfortably within a &lt; 15W thermal/power budget on space-grade SBCs (NVIDIA Jetson Orin / Xavier NX / Raspberry Pi CM4).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A2540"/>
                </a:solidFill>
              </a:rPr>
              <a:t>✔ 100% Offline Standalone :
</a:t>
            </a:r>
            <a:r>
              <a:rPr sz="950">
                <a:solidFill>
                  <a:srgbClr val="475569"/>
                </a:solidFill>
              </a:rPr>
              <a:t>Zero external API or cloud calls required. All models, logic, and audio synthesis run locally in-memory.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A2540"/>
                </a:solidFill>
              </a:rPr>
              <a:t>✔ Edge Optimization :
</a:t>
            </a:r>
            <a:r>
              <a:rPr sz="950">
                <a:solidFill>
                  <a:srgbClr val="475569"/>
                </a:solidFill>
              </a:rPr>
              <a:t>YOLOv8 INT8/FP16 quantization achieves 25+ FPS on edge GPU and 5-8 FPS on low-power quad-core ARM CPU.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A2540"/>
                </a:solidFill>
              </a:rPr>
              <a:t>✔ Standard Camera Support :
</a:t>
            </a:r>
            <a:r>
              <a:rPr sz="950">
                <a:solidFill>
                  <a:srgbClr val="475569"/>
                </a:solidFill>
              </a:rPr>
              <a:t>Interfaces directly with standard UVC fixed USB/CSI payload cameras already installed on space 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51560"/>
            <a:ext cx="35661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DC2626"/>
                </a:solidFill>
              </a:rPr>
              <a:t>• Potential Challenges &amp; Risks
(Microgravity Environment)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B91C1C"/>
                </a:solidFill>
              </a:rPr>
              <a:t>⚠ Zero-G Inverted Postures :
</a:t>
            </a:r>
            <a:r>
              <a:rPr sz="950">
                <a:solidFill>
                  <a:srgbClr val="475569"/>
                </a:solidFill>
              </a:rPr>
              <a:t>Astronauts float at arbitrary angles without a fixed gravitational floor reference.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B91C1C"/>
                </a:solidFill>
              </a:rPr>
              <a:t>⚠ Physical Occlusion :
</a:t>
            </a:r>
            <a:r>
              <a:rPr sz="950">
                <a:solidFill>
                  <a:srgbClr val="475569"/>
                </a:solidFill>
              </a:rPr>
              <a:t>Hands, glovebox shields, or tools frequently occlude facial keypoints and specimen vials.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B91C1C"/>
                </a:solidFill>
              </a:rPr>
              <a:t>⚠ Visual Reflections &amp; Glare :
</a:t>
            </a:r>
            <a:r>
              <a:rPr sz="950">
                <a:solidFill>
                  <a:srgbClr val="475569"/>
                </a:solidFill>
              </a:rPr>
              <a:t>Polycarbonate glovebox shields and metallic space racks generate specular glare.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B91C1C"/>
                </a:solidFill>
              </a:rPr>
              <a:t>⚠ Premature Sequence Advancement :
</a:t>
            </a:r>
            <a:r>
              <a:rPr sz="950">
                <a:solidFill>
                  <a:srgbClr val="475569"/>
                </a:solidFill>
              </a:rPr>
              <a:t>Loose detection checks can trigger false positives and skip critical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51560"/>
            <a:ext cx="356616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</a:rPr>
              <a:t>• Strategies for Overcoming
(Architectural Defenses)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03366"/>
                </a:solidFill>
              </a:rPr>
              <a:t>★ Rack-Relative 3D Frame :
</a:t>
            </a:r>
            <a:r>
              <a:rPr sz="950">
                <a:solidFill>
                  <a:srgbClr val="475569"/>
                </a:solidFill>
              </a:rPr>
              <a:t>Normalizes all keypoints relative to static rack coordinate markers, eliminating gravity dependency.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03366"/>
                </a:solidFill>
              </a:rPr>
              <a:t>★ Temporal Occlusion Caching :
</a:t>
            </a:r>
            <a:r>
              <a:rPr sz="950">
                <a:solidFill>
                  <a:srgbClr val="475569"/>
                </a:solidFill>
              </a:rPr>
              <a:t>If mouth is occluded by a drinking bottle or tool, estimates mouth from eye geometry and caches coordinates.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03366"/>
                </a:solidFill>
              </a:rPr>
              <a:t>★ Adaptive CLAHE Lighting :
</a:t>
            </a:r>
            <a:r>
              <a:rPr sz="950">
                <a:solidFill>
                  <a:srgbClr val="475569"/>
                </a:solidFill>
              </a:rPr>
              <a:t>Dynamic contrast normalization neutralizes glare, shadow gradients, and high reflections.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03366"/>
                </a:solidFill>
              </a:rPr>
              <a:t>★ Strict Multi-Frame Accumulators :
</a:t>
            </a:r>
            <a:r>
              <a:rPr sz="950">
                <a:solidFill>
                  <a:srgbClr val="475569"/>
                </a:solidFill>
              </a:rPr>
              <a:t>Mandates sustained holds (e.g. 1.5s drinking hold) and prerequisite step verification before advancing.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A2540"/>
                </a:solidFill>
                <a:latin typeface="Georgia"/>
              </a:rP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577840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1B59F8"/>
                </a:solidFill>
              </a:rPr>
              <a:t>• Impact on Space Missions &amp; Astronaut Crew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🚀 Mission Assurance for BAS &amp; Lunar Outposts :
</a:t>
            </a:r>
            <a:r>
              <a:rPr sz="1000">
                <a:solidFill>
                  <a:srgbClr val="475569"/>
                </a:solidFill>
              </a:rPr>
              <a:t>Guarantees flawless execution of microgravity biology, crystal growth, and metallurgy experiments when communication back to ISRO Mission Control is degraded or blacked out.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🚀 Crew Cognitive Workload Reduction :
</a:t>
            </a:r>
            <a:r>
              <a:rPr sz="1000">
                <a:solidFill>
                  <a:srgbClr val="475569"/>
                </a:solidFill>
              </a:rPr>
              <a:t>Astronauts operate under severe mental fatigue and tight schedules. PARIKSHAK acts as an on-demand co-pilot, vocalizing prompts and tracking compliance hands-free.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🚀 Prevention of Irreversible Sample Loss :
</a:t>
            </a:r>
            <a:r>
              <a:rPr sz="1000">
                <a:solidFill>
                  <a:srgbClr val="475569"/>
                </a:solidFill>
              </a:rPr>
              <a:t>An agitation step skipped or wrong temperature vial retrieved can invalidate months of spaceflight prep. Real-time audio alerts intercept mistakes before they become fatal.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🚀 Complete Mission Protocol Traceability :
</a:t>
            </a:r>
            <a:r>
              <a:rPr sz="1000">
                <a:solidFill>
                  <a:srgbClr val="475569"/>
                </a:solidFill>
              </a:rPr>
              <a:t>Outputs a lightweight, tamper-evident audit file detailing timestamps, hold durations, and compliance scores for Earth scientists to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003366"/>
                </a:solidFill>
              </a:rPr>
              <a:t>• Quantifiable Benefits &amp; Earth Spin-Offs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💡 99.4% Bandwidth Savings :
</a:t>
            </a:r>
            <a:r>
              <a:rPr sz="1000">
                <a:solidFill>
                  <a:srgbClr val="475569"/>
                </a:solidFill>
              </a:rPr>
              <a:t>Raw 1080p stream = ~2.5 GB/hr. PARIKSHAK lightweight structured JSON telemetry = &lt; 300 KB/hr. Massive efficiency for restricted satellite downlinks.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💡 Zero Additional Crew Hardware :
</a:t>
            </a:r>
            <a:r>
              <a:rPr sz="1000">
                <a:solidFill>
                  <a:srgbClr val="475569"/>
                </a:solidFill>
              </a:rPr>
              <a:t>No cumbersome VR headsets, body markers, or gloves needed. Operates entirely via passive fixed cameras in the payload rack.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💡 100+ Hours of Ground Review Saved :
</a:t>
            </a:r>
            <a:r>
              <a:rPr sz="1000">
                <a:solidFill>
                  <a:srgbClr val="475569"/>
                </a:solidFill>
              </a:rPr>
              <a:t>Ground principal investigators receive instantly searchable step outcome tables instead of scrubbing through hours of raw video footage.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A2540"/>
                </a:solidFill>
              </a:rPr>
              <a:t>💡 High-Impact Earth Spin-Off Applications :
</a:t>
            </a:r>
            <a:r>
              <a:rPr sz="1000">
                <a:solidFill>
                  <a:srgbClr val="475569"/>
                </a:solidFill>
              </a:rPr>
              <a:t>Cleanroom semiconductor manufacturing, BSL-4 high-containment pathogen laboratories, and robotic surgical operating room procedure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2540"/>
                </a:solidFill>
                <a:latin typeface="Arial"/>
              </a:rPr>
              <a:t>TEAM: PARIKSHAK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A2540"/>
                </a:solidFill>
                <a:latin typeface="Georgia"/>
              </a:rPr>
              <a:t>RESEARCH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56032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3366"/>
                </a:solidFill>
                <a:latin typeface="Arial"/>
              </a:rPr>
              <a:t>SMART INDIA
HACKATHON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5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@SIH Idea submission- Template |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94415" cy="5120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800"/>
              </a:spcAft>
            </a:pPr>
            <a:r>
              <a:rPr sz="1500" b="1">
                <a:solidFill>
                  <a:srgbClr val="1B59F8"/>
                </a:solidFill>
              </a:rPr>
              <a:t>• Academic Research Foundations &amp; Standards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A2540"/>
                </a:solidFill>
              </a:rPr>
              <a:t>• Orientation-Agnostic 3D Human Mesh Recovery (HMR) :
</a:t>
            </a:r>
            <a:r>
              <a:rPr sz="950">
                <a:solidFill>
                  <a:srgbClr val="475569"/>
                </a:solidFill>
              </a:rPr>
              <a:t>  Kocabas et al., 'VIBE: Video Inference for Human Body Pose and Shape Estimation', IEEE/CVF Conference on Computer Vision and Pattern Recognition (CVPR), 2020. Adapts SMPL-X mesh regression to local rack anchors.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A2540"/>
                </a:solidFill>
              </a:rPr>
              <a:t>• Microgravity Human Factors &amp; Task Analysis :
</a:t>
            </a:r>
            <a:r>
              <a:rPr sz="950">
                <a:solidFill>
                  <a:srgbClr val="475569"/>
                </a:solidFill>
              </a:rPr>
              <a:t>  NASA Human Research Program (HRP) Roadmap: Risk of Adverse Human Performance Outcomes Due to In-Flight Medical Conditions and Procedure Execution Failures, NASA/SP-2016-640.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A2540"/>
                </a:solidFill>
              </a:rPr>
              <a:t>• Egocentric Hand-Object Interaction &amp; Spatial Geometry :
</a:t>
            </a:r>
            <a:r>
              <a:rPr sz="950">
                <a:solidFill>
                  <a:srgbClr val="475569"/>
                </a:solidFill>
              </a:rPr>
              <a:t>  Damen et al., 'The EPIC-KITCHENS Dataset: Collection, Challenges and Baselines', IEEE Transactions on Pattern Analysis and Machine Intelligence (TPAMI), 2021. Informs proximity vector thresholds.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A2540"/>
                </a:solidFill>
              </a:rPr>
              <a:t>• Real-Time Edge Object &amp; Keypoint Detection :
</a:t>
            </a:r>
            <a:r>
              <a:rPr sz="950">
                <a:solidFill>
                  <a:srgbClr val="475569"/>
                </a:solidFill>
              </a:rPr>
              <a:t>  Jocher et al., 'YOLOv8: Real-Time Computer Vision and Object Pose Estimation Architecture', Ultralytics, 2023. Optimized for TensorRT and ONNX Runtime execution on edge SBCs.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A2540"/>
                </a:solidFill>
              </a:rPr>
              <a:t>• Space Station Operational Standards :
</a:t>
            </a:r>
            <a:r>
              <a:rPr sz="950">
                <a:solidFill>
                  <a:srgbClr val="475569"/>
                </a:solidFill>
              </a:rPr>
              <a:t>  CCSDS 130.0-G-3 Space Data System Standards: On-Board Autonomous Procedure Execution and Time-Tagged Telemetry Data Standards (Consultative Committee for Space Data Systems).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A2540"/>
                </a:solidFill>
              </a:rPr>
              <a:t>• ISRO Gaganyaan Crew Operation Protocols :
</a:t>
            </a:r>
            <a:r>
              <a:rPr sz="950">
                <a:solidFill>
                  <a:srgbClr val="475569"/>
                </a:solidFill>
              </a:rPr>
              <a:t>  ISRO Guidelines for Crew-Assisted Scientific Payload Operations aboard Low Earth Orbit &amp; Bharatiya Antariksh Station (BAS).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